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371600"/>
            <a:ext cx="3931920" cy="4114800"/>
          </a:xfrm>
          <a:prstGeom prst="rect">
            <a:avLst/>
          </a:prstGeom>
          <a:solidFill>
            <a:srgbClr val="17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221E10"/>
          </a:solidFill>
          <a:ln w="1270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417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9C349"/>
                </a:solidFill>
                <a:latin typeface="Calibri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9C349"/>
                </a:solidFill>
                <a:latin typeface="Palatino Linotype"/>
              </a:rPr>
              <a:t>GALA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7975"/>
                </a:solidFill>
                <a:latin typeface="Calibri"/>
              </a:rPr>
              <a:t>Wedding Planning  ·  Enterprise Resource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4617720"/>
            <a:ext cx="192024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955"/>
                </a:solidFill>
                <a:latin typeface="Calibri"/>
              </a:rPr>
              <a:t>Boda Demo: Sofía Martínez &amp; Diego Rodríguez  ·  14 de Febrero, 2026  ·  Hotel Grand Palais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A730"/>
                </a:solidFill>
                <a:latin typeface="Calibri"/>
              </a:rPr>
              <a:t>✦  ✦  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EL PROBLEMA QUE RESOLVEMOS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Palatino Linotype"/>
              </a:rPr>
              <a:t>Organizar una boda es caótico por defecto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975"/>
                </a:solidFill>
                <a:latin typeface="Calibri"/>
              </a:rPr>
              <a:t>Sin una herramienta centralizada, los planners coordinan todo entre hojas de cálculo,
WhatsApp y correos dispersos. Eso tiene un costo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5486400" cy="1783080"/>
          </a:xfrm>
          <a:prstGeom prst="rect">
            <a:avLst/>
          </a:prstGeom>
          <a:solidFill>
            <a:srgbClr val="1A1212"/>
          </a:solidFill>
          <a:ln w="9525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420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E2DD"/>
                </a:solidFill>
                <a:latin typeface="Calibri"/>
              </a:rPr>
              <a:t>Presupuesto sin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89504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Los gastos se esparcen en notas, transferencias y mensajes. Nadie sabe cuánto queda disponible ni qué proveedor falta por pagar.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486400" cy="1783080"/>
          </a:xfrm>
          <a:prstGeom prst="rect">
            <a:avLst/>
          </a:prstGeom>
          <a:solidFill>
            <a:srgbClr val="1A1212"/>
          </a:solidFill>
          <a:ln w="9525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5420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E2DD"/>
                </a:solidFill>
                <a:latin typeface="Calibri"/>
              </a:rPr>
              <a:t>Lista de invitados difícil de gestionar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889504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Los RSVP llegan por canales distintos, los grupos se confunden y los asientos se asignan de forma manual y propensa a errores.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5486400" cy="1783080"/>
          </a:xfrm>
          <a:prstGeom prst="rect">
            <a:avLst/>
          </a:prstGeom>
          <a:solidFill>
            <a:srgbClr val="1A1212"/>
          </a:solidFill>
          <a:ln w="9525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🗓️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943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E2DD"/>
                </a:solidFill>
                <a:latin typeface="Calibri"/>
              </a:rPr>
              <a:t>Programa del evento desincronizado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46904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El horario existe en un PDF estático que el planner edita a mano cada vez que cambia un detalle. Sin versión en vivo para el equipo.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434840"/>
            <a:ext cx="5486400" cy="1783080"/>
          </a:xfrm>
          <a:prstGeom prst="rect">
            <a:avLst/>
          </a:prstGeom>
          <a:solidFill>
            <a:srgbClr val="1A1212"/>
          </a:solidFill>
          <a:ln w="9525">
            <a:solidFill>
              <a:srgbClr val="5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59943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E2DD"/>
                </a:solidFill>
                <a:latin typeface="Calibri"/>
              </a:rPr>
              <a:t>Invitación genérica y desconectada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946904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Diseño de terceros que no accede a los datos del evento, no se actualiza en tiempo real y no refleja la identidad de la pareja.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Palatino Linotype"/>
              </a:rPr>
              <a:t>Un solo sistema para todo el proceso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0" cy="4389120"/>
          </a:xfrm>
          <a:prstGeom prst="rect">
            <a:avLst/>
          </a:prstGeom>
          <a:solidFill>
            <a:srgbClr val="191810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7975"/>
                </a:solidFill>
                <a:latin typeface="Calibri"/>
              </a:rPr>
              <a:t>Gala ERP centraliza todos los módulos de planificación en una plataforma visual,
con datos en tiempo real. El planner tiene el control total desde un solo lugar.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2103120" cy="77724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MÓDULOS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4952" y="2743200"/>
            <a:ext cx="2103120" cy="77724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2788920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312724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TIEMPO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4" y="2743200"/>
            <a:ext cx="2103120" cy="77724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2788920"/>
            <a:ext cx="1920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12724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PROYECTOS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30752"/>
            <a:ext cx="21031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398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🎯  Datos centralizados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4952" y="3730752"/>
            <a:ext cx="21031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37398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⚡  Tiempo real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4104" y="3730752"/>
            <a:ext cx="21031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3739896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📱  Responsive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645920"/>
            <a:ext cx="3840480" cy="210312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2DD"/>
                </a:solidFill>
                <a:latin typeface="Calibri"/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Sin código ni configuración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15798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El planner accede desde el navegador, crea el proyecto
y comienza a organizar en minutos.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931920"/>
            <a:ext cx="3840480" cy="210312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2DD"/>
                </a:solidFill>
                <a:latin typeface="Calibri"/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Multi-usuario con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44398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Admin, planner y visualizador. Cada rol accede solo
a lo que necesita.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PLATAFORMA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10 módulos, un solo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Panel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KPIs en tiempo real, cuenta regresiva.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7004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79191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Invitados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RSVP, grupos, padrinos y restricciones.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7004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79191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Invitación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Personalizable con foto, música y RSVP.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7004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79191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Presupuesto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965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Gastos por categoría y pagos.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267004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679191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🗓️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Itinerario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Timeline visual editable del día.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5312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6227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15468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Lugares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3749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Sedes, dirección y horario.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445312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46227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15468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Proveedores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749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Directorio, contratos y pagos.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45312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46227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15468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Tareas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749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Pendientes con fechas y prioridad.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445312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446227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93776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Plano de Asientos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532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Canvas drag &amp; drop + póster.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23620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24535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493776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Post-Boda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5532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Regalos, agradecimientos y cierre.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29000" y="623620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624535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493776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RSVP Digital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532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Confirmación desde la invitación.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623620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624535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4937760"/>
            <a:ext cx="2788920" cy="160020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2DD"/>
                </a:solidFill>
                <a:latin typeface="Calibri"/>
              </a:rPr>
              <a:t>🖨️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5E2DD"/>
                </a:solidFill>
                <a:latin typeface="Calibri"/>
              </a:rPr>
              <a:t>Póster Imprimible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5532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Seating chart para caballete.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6236208"/>
            <a:ext cx="32004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6245352"/>
            <a:ext cx="228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alatino Linotype"/>
              </a:rPr>
              <a:t>Panel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6002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819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Cuenta regresiva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Siempre visible cuántos días faltan para el gran día.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3134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KPIs instantáneos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328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Presupuesto ejecutado, confirmaciones y tareas pendientes en tiempo real.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324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304495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Multi-proyecto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644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Cambia entre bodas activas desde el header sin perder el contexto.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120640" cy="822960"/>
          </a:xfrm>
          <a:prstGeom prst="rect">
            <a:avLst/>
          </a:prstGeom>
          <a:solidFill>
            <a:srgbClr val="18170E"/>
          </a:solidFill>
          <a:ln w="9525">
            <a:solidFill>
              <a:srgbClr val="443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9C349"/>
                </a:solidFill>
                <a:latin typeface="Calibri"/>
              </a:rPr>
              <a:t>Boda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Sofía Martínez &amp; Diego Rodríguez  ·  14 Feb 2026  ·  Hotel Grand Palais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GALA ERP — Panel · Martínez &amp; Rodríguez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694944"/>
            <a:ext cx="1783080" cy="68580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74066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173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1078992"/>
            <a:ext cx="1691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DÍAS RESTANTES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694944"/>
            <a:ext cx="1783080" cy="68580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74066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078992"/>
            <a:ext cx="1691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CONFIRMADOS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94944"/>
            <a:ext cx="1828800" cy="68580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7406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$425K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1078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PRESUPUESTO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563624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Presupuesto ejecutado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156362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9C349"/>
                </a:solidFill>
                <a:latin typeface="Calibri"/>
              </a:rPr>
              <a:t>68%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783080"/>
            <a:ext cx="5577840" cy="73152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1783080"/>
            <a:ext cx="3792931" cy="73152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993391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Tareas completadas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9528" y="1993391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DE80"/>
                </a:solidFill>
                <a:latin typeface="Calibri"/>
              </a:rPr>
              <a:t>74%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212848"/>
            <a:ext cx="5577840" cy="73152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2212848"/>
            <a:ext cx="4127601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423160"/>
            <a:ext cx="39044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Invitaciones confirmadas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2423160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BC9F2"/>
                </a:solidFill>
                <a:latin typeface="Calibri"/>
              </a:rPr>
              <a:t>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642615"/>
            <a:ext cx="5577840" cy="73152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642615"/>
            <a:ext cx="4852720" cy="73152"/>
          </a:xfrm>
          <a:prstGeom prst="rect">
            <a:avLst/>
          </a:prstGeom>
          <a:solidFill>
            <a:srgbClr val="ABC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8895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7975"/>
                </a:solidFill>
                <a:latin typeface="Calibri"/>
              </a:rPr>
              <a:t>ACTIVIDAD RECIENTE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8712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●  RSVP confirmado · María López &amp; +1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2186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●  Pago registrado · Florería Élite — $12,000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●  Tarea completada · Prueba de menú aprobada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Gestión de Invitados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3619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Grupos y padrinos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Familia, amigos, padrinos. Cada grupo con color y asignación de mesa.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677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RSVP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Los invitados confirman por la invitación web en tiempo real.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9992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Restricciones dietéticas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Vegetarianos, alergias y menús especiales para cada comensal.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Invitados — 148 personas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129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CONFIRMADOS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4AB"/>
                </a:solidFill>
                <a:latin typeface="Calibr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DECLINARON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PENDIENTES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472184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08192" y="1536192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15087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5636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Sofía Martínez (Novia)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15636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✓ Confirmado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929384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08192" y="1993391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19659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0208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Diego Rodríguez (Novio)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2020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✓ Confirmado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386584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08192" y="2450591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24231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4780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Carlos Martínez (Padrino)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2478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✓ Confirmado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2843784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08192" y="2907791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28803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29352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Ana López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352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✓ Confirmado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300984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08192" y="3364991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08192" y="33375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PG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33924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Pedro Guzmán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33924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9C349"/>
                </a:solidFill>
                <a:latin typeface="Calibri"/>
              </a:rPr>
              <a:t>Pendiente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58183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08192" y="3822191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08192" y="3794759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LV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384962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Laura Vega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384962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B4AB"/>
                </a:solidFill>
                <a:latin typeface="Calibri"/>
              </a:rPr>
              <a:t>✗ Declinó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215383"/>
            <a:ext cx="5669280" cy="384048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08192" y="4279392"/>
            <a:ext cx="256032" cy="256032"/>
          </a:xfrm>
          <a:prstGeom prst="ellipse">
            <a:avLst/>
          </a:prstGeom>
          <a:solidFill>
            <a:srgbClr val="2A2616"/>
          </a:solidFill>
          <a:ln w="6350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4251959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9C349"/>
                </a:solidFill>
                <a:latin typeface="Calibri"/>
              </a:rPr>
              <a:t>MR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30682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2DD"/>
                </a:solidFill>
                <a:latin typeface="Calibri"/>
              </a:rPr>
              <a:t>Miguel Ramos · Vegetariano 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430682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✓ Confirmado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Invitación Web Viva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3619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100% personalizable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Foto, colores, música, galería y mensaje. Todo editable desde el panel.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677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Datos conectados en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Fecha, lugar y programa se cargan automáticamente del proyecto.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9992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RSVP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El invitado confirma desde la misma invitación. Sin formularios externos.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Invitación Web — Vista previa en vivo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694944"/>
            <a:ext cx="5669280" cy="3657600"/>
          </a:xfrm>
          <a:prstGeom prst="rect">
            <a:avLst/>
          </a:prstGeom>
          <a:solidFill>
            <a:srgbClr val="0F0D08"/>
          </a:solidFill>
          <a:ln w="9525">
            <a:solidFill>
              <a:srgbClr val="332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96926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5522"/>
                </a:solidFill>
                <a:latin typeface="Calibri"/>
              </a:rPr>
              <a:t>✦  Con la bendición de nuestras familias  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38074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C349"/>
                </a:solidFill>
                <a:latin typeface="Palatino Linotype"/>
              </a:rPr>
              <a:t>Sofía &amp; Diego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956815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0848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7533"/>
                </a:solidFill>
                <a:latin typeface="Calibri"/>
              </a:rPr>
              <a:t>14  ·  FEBRERO  · 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414015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56946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Ceremonia  ·  Iglesia Santa María  ·  4:00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8437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Recepción  ·  Hotel Grand Palais  ·  7:00 PM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273552"/>
            <a:ext cx="2377440" cy="347472"/>
          </a:xfrm>
          <a:prstGeom prst="rect">
            <a:avLst/>
          </a:prstGeom>
          <a:solidFill>
            <a:srgbClr val="221C0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319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C349"/>
                </a:solidFill>
                <a:latin typeface="Calibri"/>
              </a:rPr>
              <a:t>Confirmar Asistencia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80390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3B1A"/>
                </a:solidFill>
                <a:latin typeface="Calibri"/>
              </a:rPr>
              <a:t>🎵  Thinking Out Loud  ·  Ed Sheeran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489704"/>
            <a:ext cx="5669280" cy="82296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553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9C349"/>
                </a:solidFill>
                <a:latin typeface="Calibri"/>
              </a:rPr>
              <a:t>PANEL DE PERSONALIZACIÓN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7914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Foto portada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7914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5E2DD"/>
                </a:solidFill>
                <a:latin typeface="Calibri"/>
              </a:rPr>
              <a:t>sofia-diego.jpg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7914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Música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7914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5E2DD"/>
                </a:solidFill>
                <a:latin typeface="Calibri"/>
              </a:rPr>
              <a:t>Spotify conectado 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7914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7975"/>
                </a:solidFill>
                <a:latin typeface="Calibri"/>
              </a:rPr>
              <a:t>Color primario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7914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5E2DD"/>
                </a:solidFill>
                <a:latin typeface="Calibri"/>
              </a:rPr>
              <a:t>#E9C349 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alatino Linotype"/>
              </a:rPr>
              <a:t>Control de Presupuesto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3619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Por categoría y proveedor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Catering, flores, fotografía, música... cada gasto en su lugar.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677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Proyección vs.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Compara lo presupuestado vs. gastado con alertas de sobrepresupuesto.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9992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Estado de pagos 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Queda claro qué proveedores están pagados, en anticipo o pendientes.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Presupuesto — Martínez &amp; Rodríguez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$425K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TOTAL ESTIMADO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$290K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PAGADO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4AB"/>
                </a:solidFill>
                <a:latin typeface="Calibri"/>
              </a:rPr>
              <a:t>$135K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PENDIENTE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472184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Salón &amp; Catering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15636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$180,000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15636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Pagado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984248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075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Fotografía &amp; Video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075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$48,000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20756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9C349"/>
                </a:solidFill>
                <a:latin typeface="Calibri"/>
              </a:rPr>
              <a:t>50%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496312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2587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Florería Élite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2587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$32,000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25877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Pagado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008376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0998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Música &amp; DJ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099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$25,000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3099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9C349"/>
                </a:solidFill>
                <a:latin typeface="Calibri"/>
              </a:rPr>
              <a:t>Anticipo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520440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611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Vestido &amp; Traje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3611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$45,000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3611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B4AB"/>
                </a:solidFill>
                <a:latin typeface="Calibri"/>
              </a:rPr>
              <a:t>Pendiente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032504"/>
            <a:ext cx="5669280" cy="420624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123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975"/>
                </a:solidFill>
                <a:latin typeface="Calibri"/>
              </a:rPr>
              <a:t>Papelería &amp; Otros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123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5E2DD"/>
                </a:solidFill>
                <a:latin typeface="Calibri"/>
              </a:rPr>
              <a:t>$12,000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41239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ADE80"/>
                </a:solidFill>
                <a:latin typeface="Calibri"/>
              </a:rPr>
              <a:t>Pagado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Plano de Asientos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3619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Canvas drag &amp; 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Diseña el salón arrastrando mesas, pista de baile, escenario y más.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677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Límite estricto de capacidad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Cada mesa muestra su ocupación real. No caben más personas de las que indica.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9992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Póster de caballete imprimible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Seating chart con nombres por silla listo para el caballete de entrada.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Plano de Asientos — Hotel Grand Palais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C349"/>
                </a:solidFill>
                <a:latin typeface="Calibri"/>
              </a:rPr>
              <a:t>148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CAPACIDAD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129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SENTADOS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694944"/>
            <a:ext cx="1737360" cy="640080"/>
          </a:xfrm>
          <a:prstGeom prst="rect">
            <a:avLst/>
          </a:prstGeom>
          <a:solidFill>
            <a:srgbClr val="1C1C1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74066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BC9F2"/>
                </a:solidFill>
                <a:latin typeface="Calibri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07899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A7975"/>
                </a:solidFill>
                <a:latin typeface="Calibri"/>
              </a:rPr>
              <a:t>LIBRES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517904"/>
            <a:ext cx="5669280" cy="4114800"/>
          </a:xfrm>
          <a:prstGeom prst="rect">
            <a:avLst/>
          </a:prstGeom>
          <a:solidFill>
            <a:srgbClr val="0B0C09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3163824"/>
            <a:ext cx="1371600" cy="914400"/>
          </a:xfrm>
          <a:prstGeom prst="rect">
            <a:avLst/>
          </a:prstGeom>
          <a:solidFill>
            <a:srgbClr val="14171E"/>
          </a:solidFill>
          <a:ln w="9525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529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BC9F2"/>
                </a:solidFill>
                <a:latin typeface="Calibri"/>
              </a:rPr>
              <a:t>PISTA DE BAILE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609344"/>
            <a:ext cx="1737360" cy="347472"/>
          </a:xfrm>
          <a:prstGeom prst="rect">
            <a:avLst/>
          </a:prstGeom>
          <a:solidFill>
            <a:srgbClr val="1E1A08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9C349"/>
                </a:solidFill>
                <a:latin typeface="Calibri"/>
              </a:rPr>
              <a:t>💍  Mesa de Novios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215798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3774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M1</a:t>
            </a:r>
          </a:p>
        </p:txBody>
      </p:sp>
      <p:sp>
        <p:nvSpPr>
          <p:cNvPr id="39" name="Oval 38"/>
          <p:cNvSpPr/>
          <p:nvPr/>
        </p:nvSpPr>
        <p:spPr>
          <a:xfrm>
            <a:off x="7680960" y="215798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3774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M2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52958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M3</a:t>
            </a:r>
          </a:p>
        </p:txBody>
      </p:sp>
      <p:sp>
        <p:nvSpPr>
          <p:cNvPr id="43" name="Oval 42"/>
          <p:cNvSpPr/>
          <p:nvPr/>
        </p:nvSpPr>
        <p:spPr>
          <a:xfrm>
            <a:off x="7680960" y="352958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37490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M4</a:t>
            </a:r>
          </a:p>
        </p:txBody>
      </p:sp>
      <p:sp>
        <p:nvSpPr>
          <p:cNvPr id="45" name="Oval 44"/>
          <p:cNvSpPr/>
          <p:nvPr/>
        </p:nvSpPr>
        <p:spPr>
          <a:xfrm>
            <a:off x="10058400" y="215798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237744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M5</a:t>
            </a:r>
          </a:p>
        </p:txBody>
      </p:sp>
      <p:sp>
        <p:nvSpPr>
          <p:cNvPr id="47" name="Oval 46"/>
          <p:cNvSpPr/>
          <p:nvPr/>
        </p:nvSpPr>
        <p:spPr>
          <a:xfrm>
            <a:off x="10881360" y="3163824"/>
            <a:ext cx="713232" cy="713232"/>
          </a:xfrm>
          <a:prstGeom prst="ellipse">
            <a:avLst/>
          </a:prstGeom>
          <a:solidFill>
            <a:srgbClr val="1E1E1A"/>
          </a:solidFill>
          <a:ln w="9525">
            <a:solidFill>
              <a:srgbClr val="CCA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338328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M6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MÓDULO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Itinerario del Día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53619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Timeline visual editable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Cada momento mapeado: preparativos, ceremonia, cóctel y recepción.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2677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Acceso para el equipo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Planner, proveedores y pareja ven el programa en vivo.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1A44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99923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2DD"/>
                </a:solidFill>
                <a:latin typeface="Calibri"/>
              </a:rPr>
              <a:t>Cambios al instante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Sin reimprimir ni enviar PDFs. Los cambios se reflejan en tiempo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65760"/>
            <a:ext cx="5943600" cy="6309360"/>
          </a:xfrm>
          <a:prstGeom prst="rect">
            <a:avLst/>
          </a:prstGeom>
          <a:solidFill>
            <a:srgbClr val="2A2A27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65760"/>
            <a:ext cx="59436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0" y="448056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9631" y="448056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448056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7975"/>
                </a:solidFill>
                <a:latin typeface="Calibri"/>
              </a:rPr>
              <a:t>Itinerario — 14 Feb 2026  ·  Martínez &amp; Rodríguez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832104"/>
            <a:ext cx="128016" cy="128016"/>
          </a:xfrm>
          <a:prstGeom prst="ellipse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960120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7863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09:00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78638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Preparativos Novia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9966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Hotel Grand Palais · Suite Presidencial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1581912"/>
            <a:ext cx="128016" cy="128016"/>
          </a:xfrm>
          <a:prstGeom prst="ellipse">
            <a:avLst/>
          </a:prstGeom>
          <a:solidFill>
            <a:srgbClr val="ABC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709928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BC9F2"/>
                </a:solidFill>
                <a:latin typeface="Calibri"/>
              </a:rPr>
              <a:t>11:00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5361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Sesión fotográfica previa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74650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Jardín principal del Hotel</a:t>
            </a:r>
          </a:p>
        </p:txBody>
      </p:sp>
      <p:sp>
        <p:nvSpPr>
          <p:cNvPr id="33" name="Oval 32"/>
          <p:cNvSpPr/>
          <p:nvPr/>
        </p:nvSpPr>
        <p:spPr>
          <a:xfrm>
            <a:off x="6172200" y="2331720"/>
            <a:ext cx="128016" cy="128016"/>
          </a:xfrm>
          <a:prstGeom prst="ellipse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459736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16:00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2860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Ceremonia religiosa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4963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Iglesia Santa María de la Gracia</a:t>
            </a:r>
          </a:p>
        </p:txBody>
      </p:sp>
      <p:sp>
        <p:nvSpPr>
          <p:cNvPr id="38" name="Oval 37"/>
          <p:cNvSpPr/>
          <p:nvPr/>
        </p:nvSpPr>
        <p:spPr>
          <a:xfrm>
            <a:off x="6172200" y="3081527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209544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0358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18:00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03580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Cóctel de bienvenida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2461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Terraza Mirador · Hotel Grand Palais</a:t>
            </a:r>
          </a:p>
        </p:txBody>
      </p:sp>
      <p:sp>
        <p:nvSpPr>
          <p:cNvPr id="43" name="Oval 42"/>
          <p:cNvSpPr/>
          <p:nvPr/>
        </p:nvSpPr>
        <p:spPr>
          <a:xfrm>
            <a:off x="6172200" y="3831335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959352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78561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19:30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785615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Recepción &amp; Banquete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9959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Gran Salón Esmeralda · 148 invitados</a:t>
            </a:r>
          </a:p>
        </p:txBody>
      </p:sp>
      <p:sp>
        <p:nvSpPr>
          <p:cNvPr id="48" name="Oval 47"/>
          <p:cNvSpPr/>
          <p:nvPr/>
        </p:nvSpPr>
        <p:spPr>
          <a:xfrm>
            <a:off x="6172200" y="4581144"/>
            <a:ext cx="128016" cy="128016"/>
          </a:xfrm>
          <a:prstGeom prst="ellipse">
            <a:avLst/>
          </a:prstGeom>
          <a:solidFill>
            <a:srgbClr val="ABC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709160"/>
            <a:ext cx="19050" cy="566928"/>
          </a:xfrm>
          <a:prstGeom prst="rect">
            <a:avLst/>
          </a:prstGeom>
          <a:solidFill>
            <a:srgbClr val="2A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5354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BC9F2"/>
                </a:solidFill>
                <a:latin typeface="Calibri"/>
              </a:rPr>
              <a:t>22:00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5354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Primer baile &amp; apertura de pista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7457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DJ: Electro Beats Pro</a:t>
            </a:r>
          </a:p>
        </p:txBody>
      </p:sp>
      <p:sp>
        <p:nvSpPr>
          <p:cNvPr id="53" name="Oval 52"/>
          <p:cNvSpPr/>
          <p:nvPr/>
        </p:nvSpPr>
        <p:spPr>
          <a:xfrm>
            <a:off x="6172200" y="5330952"/>
            <a:ext cx="128016" cy="128016"/>
          </a:xfrm>
          <a:prstGeom prst="ellipse">
            <a:avLst/>
          </a:prstGeom>
          <a:solidFill>
            <a:srgbClr val="7A7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285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7975"/>
                </a:solidFill>
                <a:latin typeface="Calibri"/>
              </a:rPr>
              <a:t>01:00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28523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2DD"/>
                </a:solidFill>
                <a:latin typeface="Calibri"/>
              </a:rPr>
              <a:t>Cierre y despedida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49554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7975"/>
                </a:solidFill>
                <a:latin typeface="Calibri"/>
              </a:rPr>
              <a:t>Servicio de traslado incluido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¿POR QUÉ ELEGIR GALA?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Las ventajas que marcan la diferencia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18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Todo en uno, datos conectados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No más hojas de cálculo y PDFs separados.
Todos los datos viven en una sola plataforma.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4728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564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vs. Excel + WhatsApp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18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Invitación web propia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756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No dependes de plataformas externas. La invitación
es tuya y tiene RSVP integrado.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44728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564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vs. Canva estático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618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Plano de salón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756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Diseña con drag &amp; drop, asigna invitados y genera
el caballete listo para imprimir en minutos.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44728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4564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vs. borrador en papel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24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Control financiero claro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Sabe exactamente cuánto llevas gastado y en qué
categoría estás excediendo el presupuesto.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5332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0624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9C349"/>
                </a:solidFill>
                <a:latin typeface="Calibri"/>
              </a:rPr>
              <a:t>vs. estimaciones vagas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02336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224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Diseñado para móvil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6817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Interfaz completamente responsive. El planner consulta
el evento desde el celular el día de la boda.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605332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ABC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60624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C9F2"/>
                </a:solidFill>
                <a:latin typeface="Calibri"/>
              </a:rPr>
              <a:t>On the go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023360"/>
            <a:ext cx="3749039" cy="24231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2DD"/>
                </a:solidFill>
                <a:latin typeface="Calibri"/>
              </a:rPr>
              <a:t>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224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2DD"/>
                </a:solidFill>
                <a:latin typeface="Calibri"/>
              </a:rPr>
              <a:t>Multi-usuario con 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6817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975"/>
                </a:solidFill>
                <a:latin typeface="Calibri"/>
              </a:rPr>
              <a:t>Admin, planner y visualizador. Controla quién
puede ver y quién puede editar.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6053328"/>
            <a:ext cx="1645920" cy="256032"/>
          </a:xfrm>
          <a:prstGeom prst="rect">
            <a:avLst/>
          </a:prstGeom>
          <a:solidFill>
            <a:srgbClr val="2A26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60624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Trabajo en equipo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502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A730"/>
                </a:solidFill>
                <a:latin typeface="Calibri"/>
              </a:rPr>
              <a:t>✦  ✦ 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51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C349"/>
                </a:solidFill>
                <a:latin typeface="Calibri"/>
              </a:rPr>
              <a:t>TU PRÓXIMO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98448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Palatino Linotype"/>
              </a:rPr>
              <a:t>Haz que cada boda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47672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9C349"/>
                </a:solidFill>
                <a:latin typeface="Palatino Linotype"/>
              </a:rPr>
              <a:t>una obra maestra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24912"/>
            <a:ext cx="1216152" cy="25400"/>
          </a:xfrm>
          <a:prstGeom prst="rect">
            <a:avLst/>
          </a:prstGeom>
          <a:solidFill>
            <a:srgbClr val="E9C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7975"/>
                </a:solidFill>
                <a:latin typeface="Calibri"/>
              </a:rPr>
              <a:t>Gala ERP es la herramienta que tu firma de wedding planning necesita para
ofrecer una experiencia premium, eliminar el caos y entregar resultados impecables.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40480"/>
            <a:ext cx="3200400" cy="15087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9776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80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E2DD"/>
                </a:solidFill>
                <a:latin typeface="Calibri"/>
              </a:rPr>
              <a:t>Empieza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280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Crea tu primer proyecto en menos de 5 minutos.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840480"/>
            <a:ext cx="3200400" cy="15087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9776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480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E2DD"/>
                </a:solidFill>
                <a:latin typeface="Calibri"/>
              </a:rPr>
              <a:t>Proyectos ilimitados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8280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Múltiples bodas y eventos desde un solo panel.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840480"/>
            <a:ext cx="3200400" cy="1508760"/>
          </a:xfrm>
          <a:prstGeom prst="rect">
            <a:avLst/>
          </a:prstGeom>
          <a:solidFill>
            <a:srgbClr val="20201D"/>
          </a:solidFill>
          <a:ln w="9525">
            <a:solidFill>
              <a:srgbClr val="35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9776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2DD"/>
                </a:solidFill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480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E2DD"/>
                </a:solidFill>
                <a:latin typeface="Calibri"/>
              </a:rPr>
              <a:t>Soporte dedicado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8280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Acompañamiento continuo durante la organización.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5577840"/>
            <a:ext cx="4114800" cy="548640"/>
          </a:xfrm>
          <a:prstGeom prst="rect">
            <a:avLst/>
          </a:prstGeom>
          <a:solidFill>
            <a:srgbClr val="E9C349"/>
          </a:solidFill>
          <a:ln w="9525">
            <a:solidFill>
              <a:srgbClr val="E9C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64184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1411"/>
                </a:solidFill>
                <a:latin typeface="Calibri"/>
              </a:rPr>
              <a:t>✦   SOLICITAR DEMOSTRACIÓN   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3093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975"/>
                </a:solidFill>
                <a:latin typeface="Calibri"/>
              </a:rPr>
              <a:t>Boda Demo: Sofía Martínez &amp; Diego Rodríguez  ·  Hotel Grand Palais  ·  14 Feb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